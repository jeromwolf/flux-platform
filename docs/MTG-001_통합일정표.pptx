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36576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SDGothicNeo"/>
              </a:rPr>
              <a:t>전체 일정 · 수행 방법론 · 주요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CBD5E0"/>
                </a:solidFill>
                <a:latin typeface="AppleSDGothicNeo"/>
              </a:rPr>
              <a:t>대화형 해사서비스 플랫폼 지식그래프 모델 설계 연구 용역  ·  3단계 수행체계 + 스탠포드 7단계 온톨로지 방법론  ·  계약 후 240일(8개월)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04672"/>
            <a:ext cx="2148840" cy="402336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804672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5A572"/>
                </a:solidFill>
                <a:latin typeface="AppleSDGothicNeo"/>
              </a:rPr>
              <a:t>수행 체계 (3단계)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9464" y="841248"/>
            <a:ext cx="3054096" cy="329184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9464" y="841248"/>
            <a:ext cx="30540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pleSDGothicNeo"/>
              </a:rPr>
              <a:t>1단계  해사 데이터 분석 · 구축 대상 선정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78424" y="841248"/>
            <a:ext cx="3054096" cy="32918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78424" y="841248"/>
            <a:ext cx="30540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pleSDGothicNeo"/>
              </a:rPr>
              <a:t>2단계  해사 도메인 온톨로지 · KG 모델 설계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87384" y="841248"/>
            <a:ext cx="3054096" cy="329184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7384" y="841248"/>
            <a:ext cx="30540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F1923"/>
                </a:solidFill>
                <a:latin typeface="AppleSDGothicNeo"/>
              </a:rPr>
              <a:t>3단계  PoC 기반 모델 검증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1234440"/>
            <a:ext cx="2148840" cy="329184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234440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SDGothicNeo"/>
              </a:rPr>
              <a:t>구  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42032" y="1234440"/>
            <a:ext cx="1036320" cy="329184"/>
          </a:xfrm>
          <a:prstGeom prst="rect">
            <a:avLst/>
          </a:prstGeom>
          <a:solidFill>
            <a:srgbClr val="1A365D"/>
          </a:solidFill>
          <a:ln w="6350">
            <a:solidFill>
              <a:srgbClr val="2A4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2032" y="1234440"/>
            <a:ext cx="1036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M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(5월)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78352" y="1234440"/>
            <a:ext cx="1036320" cy="329184"/>
          </a:xfrm>
          <a:prstGeom prst="rect">
            <a:avLst/>
          </a:prstGeom>
          <a:solidFill>
            <a:srgbClr val="1A365D"/>
          </a:solidFill>
          <a:ln w="6350">
            <a:solidFill>
              <a:srgbClr val="2A4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8352" y="1234440"/>
            <a:ext cx="1036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M+1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(6월)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4672" y="1234440"/>
            <a:ext cx="1036320" cy="329184"/>
          </a:xfrm>
          <a:prstGeom prst="rect">
            <a:avLst/>
          </a:prstGeom>
          <a:solidFill>
            <a:srgbClr val="1A365D"/>
          </a:solidFill>
          <a:ln w="6350">
            <a:solidFill>
              <a:srgbClr val="2A4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4672" y="1234440"/>
            <a:ext cx="1036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M+2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(7월)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50992" y="1234440"/>
            <a:ext cx="1036320" cy="329184"/>
          </a:xfrm>
          <a:prstGeom prst="rect">
            <a:avLst/>
          </a:prstGeom>
          <a:solidFill>
            <a:srgbClr val="1A365D"/>
          </a:solidFill>
          <a:ln w="6350">
            <a:solidFill>
              <a:srgbClr val="2A4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1234440"/>
            <a:ext cx="1036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M+3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(8월)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87312" y="1234440"/>
            <a:ext cx="1036320" cy="329184"/>
          </a:xfrm>
          <a:prstGeom prst="rect">
            <a:avLst/>
          </a:prstGeom>
          <a:solidFill>
            <a:srgbClr val="1A365D"/>
          </a:solidFill>
          <a:ln w="6350">
            <a:solidFill>
              <a:srgbClr val="2A4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7312" y="1234440"/>
            <a:ext cx="1036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M+4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(9월)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3632" y="1234440"/>
            <a:ext cx="1036320" cy="329184"/>
          </a:xfrm>
          <a:prstGeom prst="rect">
            <a:avLst/>
          </a:prstGeom>
          <a:solidFill>
            <a:srgbClr val="1A365D"/>
          </a:solidFill>
          <a:ln w="6350">
            <a:solidFill>
              <a:srgbClr val="2A4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3632" y="1234440"/>
            <a:ext cx="1036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M+5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(10월)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59952" y="1234440"/>
            <a:ext cx="1036320" cy="329184"/>
          </a:xfrm>
          <a:prstGeom prst="rect">
            <a:avLst/>
          </a:prstGeom>
          <a:solidFill>
            <a:srgbClr val="1A365D"/>
          </a:solidFill>
          <a:ln w="6350">
            <a:solidFill>
              <a:srgbClr val="2A4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952" y="1234440"/>
            <a:ext cx="1036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M+6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(11월)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96272" y="1234440"/>
            <a:ext cx="1036320" cy="329184"/>
          </a:xfrm>
          <a:prstGeom prst="rect">
            <a:avLst/>
          </a:prstGeom>
          <a:solidFill>
            <a:srgbClr val="1A365D"/>
          </a:solidFill>
          <a:ln w="6350">
            <a:solidFill>
              <a:srgbClr val="2A4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6272" y="1234440"/>
            <a:ext cx="1036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M+7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(12월)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32592" y="1234440"/>
            <a:ext cx="1036320" cy="329184"/>
          </a:xfrm>
          <a:prstGeom prst="rect">
            <a:avLst/>
          </a:prstGeom>
          <a:solidFill>
            <a:srgbClr val="1A365D"/>
          </a:solidFill>
          <a:ln w="6350">
            <a:solidFill>
              <a:srgbClr val="2A4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32592" y="1234440"/>
            <a:ext cx="1036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M+8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ppleSDGothicNeo"/>
              </a:rPr>
              <a:t>(1월)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1563624"/>
            <a:ext cx="2148840" cy="365760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1563624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F1923"/>
                </a:solidFill>
                <a:latin typeface="AppleSDGothicNeo"/>
              </a:rPr>
              <a:t>★  보 고 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42032" y="1563624"/>
            <a:ext cx="1036320" cy="365760"/>
          </a:xfrm>
          <a:prstGeom prst="rect">
            <a:avLst/>
          </a:prstGeom>
          <a:solidFill>
            <a:srgbClr val="FAF3E0"/>
          </a:solidFill>
          <a:ln w="6350">
            <a:solidFill>
              <a:srgbClr val="E0C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78352" y="1563624"/>
            <a:ext cx="1036320" cy="365760"/>
          </a:xfrm>
          <a:prstGeom prst="rect">
            <a:avLst/>
          </a:prstGeom>
          <a:solidFill>
            <a:srgbClr val="FAF3E0"/>
          </a:solidFill>
          <a:ln w="6350">
            <a:solidFill>
              <a:srgbClr val="E0C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14672" y="1563624"/>
            <a:ext cx="1036320" cy="365760"/>
          </a:xfrm>
          <a:prstGeom prst="rect">
            <a:avLst/>
          </a:prstGeom>
          <a:solidFill>
            <a:srgbClr val="FAF3E0"/>
          </a:solidFill>
          <a:ln w="6350">
            <a:solidFill>
              <a:srgbClr val="E0C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50992" y="1563624"/>
            <a:ext cx="1036320" cy="365760"/>
          </a:xfrm>
          <a:prstGeom prst="rect">
            <a:avLst/>
          </a:prstGeom>
          <a:solidFill>
            <a:srgbClr val="FAF3E0"/>
          </a:solidFill>
          <a:ln w="6350">
            <a:solidFill>
              <a:srgbClr val="E0C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87312" y="1563624"/>
            <a:ext cx="1036320" cy="365760"/>
          </a:xfrm>
          <a:prstGeom prst="rect">
            <a:avLst/>
          </a:prstGeom>
          <a:solidFill>
            <a:srgbClr val="FAF3E0"/>
          </a:solidFill>
          <a:ln w="6350">
            <a:solidFill>
              <a:srgbClr val="E0C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23632" y="1563624"/>
            <a:ext cx="1036320" cy="365760"/>
          </a:xfrm>
          <a:prstGeom prst="rect">
            <a:avLst/>
          </a:prstGeom>
          <a:solidFill>
            <a:srgbClr val="FAF3E0"/>
          </a:solidFill>
          <a:ln w="6350">
            <a:solidFill>
              <a:srgbClr val="E0C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59952" y="1563624"/>
            <a:ext cx="1036320" cy="365760"/>
          </a:xfrm>
          <a:prstGeom prst="rect">
            <a:avLst/>
          </a:prstGeom>
          <a:solidFill>
            <a:srgbClr val="FAF3E0"/>
          </a:solidFill>
          <a:ln w="6350">
            <a:solidFill>
              <a:srgbClr val="E0C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96272" y="1563624"/>
            <a:ext cx="1036320" cy="365760"/>
          </a:xfrm>
          <a:prstGeom prst="rect">
            <a:avLst/>
          </a:prstGeom>
          <a:solidFill>
            <a:srgbClr val="FAF3E0"/>
          </a:solidFill>
          <a:ln w="6350">
            <a:solidFill>
              <a:srgbClr val="E0C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32592" y="1563624"/>
            <a:ext cx="1036320" cy="365760"/>
          </a:xfrm>
          <a:prstGeom prst="rect">
            <a:avLst/>
          </a:prstGeom>
          <a:solidFill>
            <a:srgbClr val="FAF3E0"/>
          </a:solidFill>
          <a:ln w="6350">
            <a:solidFill>
              <a:srgbClr val="E0C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42032" y="1581912"/>
            <a:ext cx="1036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F1923"/>
                </a:solidFill>
                <a:latin typeface="AppleSDGothicNeo"/>
              </a:rPr>
              <a:t>★ 착수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42032" y="1746504"/>
            <a:ext cx="1036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4A5A6A"/>
                </a:solidFill>
                <a:latin typeface="AppleSDGothicNeo"/>
              </a:rPr>
              <a:t>계약+10일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87312" y="1581912"/>
            <a:ext cx="1036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F1923"/>
                </a:solidFill>
                <a:latin typeface="AppleSDGothicNeo"/>
              </a:rPr>
              <a:t>★ 중간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87312" y="1746504"/>
            <a:ext cx="1036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4A5A6A"/>
                </a:solidFill>
                <a:latin typeface="AppleSDGothicNeo"/>
              </a:rPr>
              <a:t>협의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2592" y="1581912"/>
            <a:ext cx="1036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F1923"/>
                </a:solidFill>
                <a:latin typeface="AppleSDGothicNeo"/>
              </a:rPr>
              <a:t>★ 최종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32592" y="1746504"/>
            <a:ext cx="1036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4A5A6A"/>
                </a:solidFill>
                <a:latin typeface="AppleSDGothicNeo"/>
              </a:rPr>
              <a:t>종료 2주 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" y="1929384"/>
            <a:ext cx="2148840" cy="2057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192938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REQ-001 해사 데이터 현황 조사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42032" y="19293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78352" y="19293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14672" y="19293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50992" y="19293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87312" y="19293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23632" y="19293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759952" y="19293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96272" y="19293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832592" y="19293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87752" y="1965960"/>
            <a:ext cx="3017520" cy="132588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47472" y="2135124"/>
            <a:ext cx="2148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213512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REQ-002 구축 대상 자산 선정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42032" y="21351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78352" y="21351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614672" y="21351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50992" y="21351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687312" y="21351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723632" y="21351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59952" y="21351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796272" y="21351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832592" y="21351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24072" y="2171700"/>
            <a:ext cx="1981200" cy="132588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47472" y="2340864"/>
            <a:ext cx="2148840" cy="2057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234086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REQ-003 그래프 DB 기술 조사·평가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542032" y="23408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578352" y="23408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614672" y="23408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50992" y="23408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87312" y="23408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23632" y="23408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759952" y="23408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796272" y="23408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832592" y="23408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24072" y="2377440"/>
            <a:ext cx="1981200" cy="132588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47472" y="2546604"/>
            <a:ext cx="2148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254660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REQ-004 국제표준·온톨로지 매핑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42032" y="254660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578352" y="254660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614672" y="254660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650992" y="254660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687312" y="254660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723632" y="254660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59952" y="254660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796272" y="254660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832592" y="254660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624072" y="2583180"/>
            <a:ext cx="1981200" cy="132588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47472" y="2752344"/>
            <a:ext cx="2148840" cy="2057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1480" y="275234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DES-001 해사 도메인 온톨로지 설계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542032" y="275234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578352" y="275234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614672" y="275234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650992" y="275234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87312" y="275234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723632" y="275234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759952" y="275234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796272" y="275234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32592" y="275234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660392" y="2788920"/>
            <a:ext cx="4053840" cy="13258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47472" y="2958084"/>
            <a:ext cx="2148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" y="295808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DES-002 지식그래프 물리 스키마 설계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542032" y="295808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578352" y="295808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614672" y="295808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650992" y="295808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687312" y="295808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723632" y="295808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759952" y="295808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796272" y="295808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832592" y="295808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696712" y="2994660"/>
            <a:ext cx="3017520" cy="13258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7472" y="3163824"/>
            <a:ext cx="2148840" cy="2057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11480" y="316382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DES-003 ETL 파이프라인 설계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542032" y="316382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578352" y="316382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614672" y="316382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650992" y="316382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687312" y="316382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723632" y="316382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59952" y="316382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796272" y="316382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832592" y="316382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696712" y="3200400"/>
            <a:ext cx="3017520" cy="13258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47472" y="3369564"/>
            <a:ext cx="2148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11480" y="336956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DES-004 탐색·복합질의 아키텍처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542032" y="336956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578352" y="336956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614672" y="336956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650992" y="336956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687312" y="336956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723632" y="336956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59952" y="336956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796272" y="336956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832592" y="336956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733032" y="3406140"/>
            <a:ext cx="1981200" cy="13258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47472" y="3575304"/>
            <a:ext cx="2148840" cy="2057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11480" y="357530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TER-001 PoC 구축·기능 검증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542032" y="357530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578352" y="357530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614672" y="357530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650992" y="357530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687312" y="357530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723632" y="357530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759952" y="357530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796272" y="357530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832592" y="357530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769352" y="3611880"/>
            <a:ext cx="3017520" cy="132588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47472" y="3781044"/>
            <a:ext cx="2148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11480" y="378104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TER-002 시각화 인터페이스 PoC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542032" y="378104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578352" y="378104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614672" y="378104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650992" y="378104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687312" y="378104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723632" y="378104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759952" y="378104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796272" y="378104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832592" y="378104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805672" y="3817620"/>
            <a:ext cx="1981200" cy="132588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47472" y="3986784"/>
            <a:ext cx="2148840" cy="2057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11480" y="398678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2차년도 구축 상세 설계서 작성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542032" y="39867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578352" y="39867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614672" y="39867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5650992" y="39867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687312" y="39867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23632" y="39867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759952" y="39867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796272" y="39867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0832592" y="398678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841992" y="4023360"/>
            <a:ext cx="1981200" cy="132588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47472" y="4192524"/>
            <a:ext cx="2148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411480" y="419252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과업 완료 보고서 작성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542032" y="41925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78352" y="41925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614672" y="41925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650992" y="41925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687312" y="41925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723632" y="41925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759952" y="41925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796272" y="41925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832592" y="4192524"/>
            <a:ext cx="103632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841992" y="4229100"/>
            <a:ext cx="1981200" cy="132588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347472" y="4398264"/>
            <a:ext cx="2148840" cy="2057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11480" y="439826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A33"/>
                </a:solidFill>
                <a:latin typeface="AppleSDGothicNeo"/>
              </a:rPr>
              <a:t>COM-005 격주 협의 · GitHub 산출물 관리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542032" y="43982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3578352" y="43982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614672" y="43982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650992" y="43982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687312" y="43982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723632" y="43982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759952" y="43982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796272" y="43982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0832592" y="4398264"/>
            <a:ext cx="1036320" cy="20574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587752" y="4434840"/>
            <a:ext cx="9235440" cy="1325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347472" y="4631436"/>
            <a:ext cx="2148840" cy="420624"/>
          </a:xfrm>
          <a:prstGeom prst="rect">
            <a:avLst/>
          </a:prstGeom>
          <a:solidFill>
            <a:srgbClr val="9C6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47472" y="4631436"/>
            <a:ext cx="21488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SDGothicNeo"/>
              </a:rPr>
              <a:t>온톨로지 방법론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AppleSDGothicNeo"/>
              </a:rPr>
              <a:t>스탠포드 7단계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542032" y="4631436"/>
            <a:ext cx="1036320" cy="420624"/>
          </a:xfrm>
          <a:prstGeom prst="rect">
            <a:avLst/>
          </a:prstGeom>
          <a:solidFill>
            <a:srgbClr val="F3EEFA"/>
          </a:solidFill>
          <a:ln w="6350">
            <a:solidFill>
              <a:srgbClr val="DE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3578352" y="4631436"/>
            <a:ext cx="1036320" cy="420624"/>
          </a:xfrm>
          <a:prstGeom prst="rect">
            <a:avLst/>
          </a:prstGeom>
          <a:solidFill>
            <a:srgbClr val="F3EEFA"/>
          </a:solidFill>
          <a:ln w="6350">
            <a:solidFill>
              <a:srgbClr val="DE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614672" y="4631436"/>
            <a:ext cx="1036320" cy="420624"/>
          </a:xfrm>
          <a:prstGeom prst="rect">
            <a:avLst/>
          </a:prstGeom>
          <a:solidFill>
            <a:srgbClr val="F3EEFA"/>
          </a:solidFill>
          <a:ln w="6350">
            <a:solidFill>
              <a:srgbClr val="DE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650992" y="4631436"/>
            <a:ext cx="1036320" cy="420624"/>
          </a:xfrm>
          <a:prstGeom prst="rect">
            <a:avLst/>
          </a:prstGeom>
          <a:solidFill>
            <a:srgbClr val="F3EEFA"/>
          </a:solidFill>
          <a:ln w="6350">
            <a:solidFill>
              <a:srgbClr val="DE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687312" y="4631436"/>
            <a:ext cx="1036320" cy="420624"/>
          </a:xfrm>
          <a:prstGeom prst="rect">
            <a:avLst/>
          </a:prstGeom>
          <a:solidFill>
            <a:srgbClr val="F3EEFA"/>
          </a:solidFill>
          <a:ln w="6350">
            <a:solidFill>
              <a:srgbClr val="DE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7723632" y="4631436"/>
            <a:ext cx="1036320" cy="420624"/>
          </a:xfrm>
          <a:prstGeom prst="rect">
            <a:avLst/>
          </a:prstGeom>
          <a:solidFill>
            <a:srgbClr val="F3EEFA"/>
          </a:solidFill>
          <a:ln w="6350">
            <a:solidFill>
              <a:srgbClr val="DE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759952" y="4631436"/>
            <a:ext cx="1036320" cy="420624"/>
          </a:xfrm>
          <a:prstGeom prst="rect">
            <a:avLst/>
          </a:prstGeom>
          <a:solidFill>
            <a:srgbClr val="F3EEFA"/>
          </a:solidFill>
          <a:ln w="6350">
            <a:solidFill>
              <a:srgbClr val="DE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796272" y="4631436"/>
            <a:ext cx="1036320" cy="420624"/>
          </a:xfrm>
          <a:prstGeom prst="rect">
            <a:avLst/>
          </a:prstGeom>
          <a:solidFill>
            <a:srgbClr val="F3EEFA"/>
          </a:solidFill>
          <a:ln w="6350">
            <a:solidFill>
              <a:srgbClr val="DE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0832592" y="4631436"/>
            <a:ext cx="1036320" cy="420624"/>
          </a:xfrm>
          <a:prstGeom prst="rect">
            <a:avLst/>
          </a:prstGeom>
          <a:solidFill>
            <a:srgbClr val="F3EEFA"/>
          </a:solidFill>
          <a:ln w="6350">
            <a:solidFill>
              <a:srgbClr val="DE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620672" y="4668012"/>
            <a:ext cx="580182" cy="347472"/>
          </a:xfrm>
          <a:prstGeom prst="rect">
            <a:avLst/>
          </a:prstGeom>
          <a:solidFill>
            <a:srgbClr val="9C6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614672" y="4668012"/>
            <a:ext cx="59218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S1</a:t>
            </a:r>
          </a:p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목적정의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5212854" y="4668012"/>
            <a:ext cx="580182" cy="347472"/>
          </a:xfrm>
          <a:prstGeom prst="rect">
            <a:avLst/>
          </a:prstGeom>
          <a:solidFill>
            <a:srgbClr val="9C6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206854" y="4668012"/>
            <a:ext cx="59218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S2</a:t>
            </a:r>
          </a:p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재사용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5805037" y="4668012"/>
            <a:ext cx="580182" cy="347472"/>
          </a:xfrm>
          <a:prstGeom prst="rect">
            <a:avLst/>
          </a:prstGeom>
          <a:solidFill>
            <a:srgbClr val="9C6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799037" y="4668012"/>
            <a:ext cx="59218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S3</a:t>
            </a:r>
          </a:p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용어열거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6397220" y="4668012"/>
            <a:ext cx="580182" cy="347472"/>
          </a:xfrm>
          <a:prstGeom prst="rect">
            <a:avLst/>
          </a:prstGeom>
          <a:solidFill>
            <a:srgbClr val="9C6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391220" y="4668012"/>
            <a:ext cx="59218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S4</a:t>
            </a:r>
          </a:p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클래스·계층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989403" y="4668012"/>
            <a:ext cx="580182" cy="347472"/>
          </a:xfrm>
          <a:prstGeom prst="rect">
            <a:avLst/>
          </a:prstGeom>
          <a:solidFill>
            <a:srgbClr val="9C6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983403" y="4668012"/>
            <a:ext cx="59218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S5</a:t>
            </a:r>
          </a:p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속성정의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7581586" y="4668012"/>
            <a:ext cx="580182" cy="347472"/>
          </a:xfrm>
          <a:prstGeom prst="rect">
            <a:avLst/>
          </a:prstGeom>
          <a:solidFill>
            <a:srgbClr val="9C6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575586" y="4668012"/>
            <a:ext cx="59218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S6</a:t>
            </a:r>
          </a:p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제약정의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173769" y="4668012"/>
            <a:ext cx="580182" cy="347472"/>
          </a:xfrm>
          <a:prstGeom prst="rect">
            <a:avLst/>
          </a:prstGeom>
          <a:solidFill>
            <a:srgbClr val="9C6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167769" y="4668012"/>
            <a:ext cx="59218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S7</a:t>
            </a:r>
          </a:p>
          <a:p>
            <a:pPr algn="ctr"/>
            <a:r>
              <a:rPr sz="650" b="1">
                <a:solidFill>
                  <a:srgbClr val="FFFFFF"/>
                </a:solidFill>
                <a:latin typeface="AppleSDGothicNeo"/>
              </a:rPr>
              <a:t>인스턴스·검증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347472" y="5079492"/>
            <a:ext cx="2148840" cy="749808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347472" y="5079492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C5A572"/>
                </a:solidFill>
                <a:latin typeface="AppleSDGothicNeo"/>
              </a:rPr>
              <a:t>■  최종 성과물</a:t>
            </a:r>
          </a:p>
          <a:p>
            <a:pPr algn="ctr"/>
            <a:r>
              <a:rPr sz="950" b="1">
                <a:solidFill>
                  <a:srgbClr val="C5A572"/>
                </a:solidFill>
                <a:latin typeface="AppleSDGothicNeo"/>
              </a:rPr>
              <a:t>(◆ 5종 · 전자문서)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2542032" y="5079492"/>
            <a:ext cx="1036320" cy="749808"/>
          </a:xfrm>
          <a:prstGeom prst="rect">
            <a:avLst/>
          </a:prstGeom>
          <a:solidFill>
            <a:srgbClr val="ECF0F6"/>
          </a:solidFill>
          <a:ln w="6350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569464" y="5106924"/>
            <a:ext cx="98145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365D"/>
                </a:solidFill>
                <a:latin typeface="AppleSDGothicNeo"/>
              </a:rPr>
              <a:t>착수보고서</a:t>
            </a:r>
          </a:p>
          <a:p>
            <a:pPr algn="ctr"/>
            <a:r>
              <a:rPr sz="700" b="1">
                <a:solidFill>
                  <a:srgbClr val="1A365D"/>
                </a:solidFill>
                <a:latin typeface="AppleSDGothicNeo"/>
              </a:rPr>
              <a:t>(계약+10일)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3578352" y="5079492"/>
            <a:ext cx="1036320" cy="749808"/>
          </a:xfrm>
          <a:prstGeom prst="rect">
            <a:avLst/>
          </a:prstGeom>
          <a:solidFill>
            <a:srgbClr val="ECF0F6"/>
          </a:solidFill>
          <a:ln w="6350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605784" y="5106924"/>
            <a:ext cx="98145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365D"/>
                </a:solidFill>
                <a:latin typeface="AppleSDGothicNeo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614672" y="5079492"/>
            <a:ext cx="1036320" cy="749808"/>
          </a:xfrm>
          <a:prstGeom prst="rect">
            <a:avLst/>
          </a:prstGeom>
          <a:solidFill>
            <a:srgbClr val="FFF5E5"/>
          </a:solidFill>
          <a:ln w="6350">
            <a:solidFill>
              <a:srgbClr val="C5A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642104" y="5106924"/>
            <a:ext cx="98145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◆ 해사 데이터</a:t>
            </a:r>
          </a:p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현황 분석 보고서</a:t>
            </a:r>
          </a:p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(계약 후 2개월)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650992" y="5079492"/>
            <a:ext cx="1036320" cy="749808"/>
          </a:xfrm>
          <a:prstGeom prst="rect">
            <a:avLst/>
          </a:prstGeom>
          <a:solidFill>
            <a:srgbClr val="ECF0F6"/>
          </a:solidFill>
          <a:ln w="6350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678424" y="5106924"/>
            <a:ext cx="98145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365D"/>
                </a:solidFill>
                <a:latin typeface="AppleSDGothicNeo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687312" y="5079492"/>
            <a:ext cx="1036320" cy="749808"/>
          </a:xfrm>
          <a:prstGeom prst="rect">
            <a:avLst/>
          </a:prstGeom>
          <a:solidFill>
            <a:srgbClr val="ECF0F6"/>
          </a:solidFill>
          <a:ln w="6350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714744" y="5106924"/>
            <a:ext cx="98145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365D"/>
                </a:solidFill>
                <a:latin typeface="AppleSDGothicNeo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723632" y="5079492"/>
            <a:ext cx="1036320" cy="749808"/>
          </a:xfrm>
          <a:prstGeom prst="rect">
            <a:avLst/>
          </a:prstGeom>
          <a:solidFill>
            <a:srgbClr val="FFF5E5"/>
          </a:solidFill>
          <a:ln w="6350">
            <a:solidFill>
              <a:srgbClr val="C5A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751064" y="5106924"/>
            <a:ext cx="98145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◆ 지식그래프</a:t>
            </a:r>
          </a:p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온톨로지 설계서</a:t>
            </a:r>
          </a:p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(계약 후 5개월)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8759952" y="5079492"/>
            <a:ext cx="1036320" cy="749808"/>
          </a:xfrm>
          <a:prstGeom prst="rect">
            <a:avLst/>
          </a:prstGeom>
          <a:solidFill>
            <a:srgbClr val="ECF0F6"/>
          </a:solidFill>
          <a:ln w="6350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787384" y="5106924"/>
            <a:ext cx="98145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365D"/>
                </a:solidFill>
                <a:latin typeface="AppleSDGothicNeo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9796272" y="5079492"/>
            <a:ext cx="1036320" cy="749808"/>
          </a:xfrm>
          <a:prstGeom prst="rect">
            <a:avLst/>
          </a:prstGeom>
          <a:solidFill>
            <a:srgbClr val="FFF5E5"/>
          </a:solidFill>
          <a:ln w="6350">
            <a:solidFill>
              <a:srgbClr val="C5A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823704" y="5106924"/>
            <a:ext cx="98145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◆ PoC 결과</a:t>
            </a:r>
          </a:p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보고서</a:t>
            </a:r>
          </a:p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(종료 1개월 전)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10832592" y="5079492"/>
            <a:ext cx="1036320" cy="749808"/>
          </a:xfrm>
          <a:prstGeom prst="rect">
            <a:avLst/>
          </a:prstGeom>
          <a:solidFill>
            <a:srgbClr val="FFF5E5"/>
          </a:solidFill>
          <a:ln w="6350">
            <a:solidFill>
              <a:srgbClr val="C5A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0860024" y="5106924"/>
            <a:ext cx="98145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◆ 2차년도 구축</a:t>
            </a:r>
          </a:p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상세 설계서</a:t>
            </a:r>
          </a:p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◆ 과업완료 보고서</a:t>
            </a:r>
          </a:p>
          <a:p>
            <a:pPr algn="ctr"/>
            <a:r>
              <a:rPr sz="700" b="1">
                <a:solidFill>
                  <a:srgbClr val="E74C3C"/>
                </a:solidFill>
                <a:latin typeface="AppleSDGothicNeo"/>
              </a:rPr>
              <a:t>(종료 2주 전)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411480" y="5920740"/>
            <a:ext cx="146304" cy="146304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603504" y="590245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AppleSDGothicNeo"/>
              </a:rPr>
              <a:t>1단계 연구 (REQ)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892808" y="5920740"/>
            <a:ext cx="146304" cy="14630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2084832" y="590245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AppleSDGothicNeo"/>
              </a:rPr>
              <a:t>2단계 설계 (DES)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3374136" y="5920740"/>
            <a:ext cx="146304" cy="146304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3566160" y="590245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AppleSDGothicNeo"/>
              </a:rPr>
              <a:t>3단계 PoC (TER)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4855464" y="5920740"/>
            <a:ext cx="146304" cy="146304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5047488" y="590245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AppleSDGothicNeo"/>
              </a:rPr>
              <a:t>보고서·납품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336792" y="5920740"/>
            <a:ext cx="146304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528816" y="590245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AppleSDGothicNeo"/>
              </a:rPr>
              <a:t>공통 (COM)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818120" y="5920740"/>
            <a:ext cx="146304" cy="146304"/>
          </a:xfrm>
          <a:prstGeom prst="rect">
            <a:avLst/>
          </a:prstGeom>
          <a:solidFill>
            <a:srgbClr val="9C6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8010144" y="590245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AppleSDGothicNeo"/>
              </a:rPr>
              <a:t>온톨로지 7단계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9299448" y="5902452"/>
            <a:ext cx="182880" cy="182880"/>
          </a:xfrm>
          <a:prstGeom prst="rect">
            <a:avLst/>
          </a:prstGeom>
          <a:solidFill>
            <a:srgbClr val="FFF5E5"/>
          </a:solidFill>
          <a:ln w="6350">
            <a:solidFill>
              <a:srgbClr val="C5A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9528048" y="590245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E74C3C"/>
                </a:solidFill>
                <a:latin typeface="AppleSDGothicNeo"/>
              </a:rPr>
              <a:t>◆  KRISO 의무 성과물 5종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411480" y="6176772"/>
            <a:ext cx="1138428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502920" y="617677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365D"/>
                </a:solidFill>
                <a:latin typeface="AppleSDGothicNeo"/>
              </a:rPr>
              <a:t>※ 일정 기준: 제안서 표 II-23 (8개월 M~M+8)   ·   미팅 협의: 중간보고 시점·검수 기준   ·   완수일 2026.12.11 (입찰공고문)   ·   발주: 해사디지털서비스연구센터 이용남 (042-866-3612)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365760" y="6601968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AppleSDGothicNeo"/>
              </a:rPr>
              <a:t>㈜인사이트마이닝  ·  KRISO 1차년도 연구용역  ·  기술제안서(2026.03.26) 정합  ·  2026.05.20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