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63440"/>
            <a:ext cx="12191695" cy="54864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AppleSDGothicNeo"/>
              </a:rPr>
              <a:t>한국해양과학기술원 부설 선박해양플랜트연구소 (KRISO)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  <a:latin typeface="AppleSDGothicNeo"/>
              </a:rPr>
              <a:t>2026년도 1차년도 연구용역 착수보고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SDGothicNeo"/>
              </a:rPr>
              <a:t>대화형 해사서비스 플랫폼을 위한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SDGothicNeo"/>
              </a:rPr>
              <a:t>지식그래프 모델 설계 연구 용역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C5A572"/>
                </a:solidFill>
                <a:latin typeface="AppleSDGothicNeo"/>
              </a:rPr>
              <a:t>착수신고 및 일정 협의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937760"/>
            <a:ext cx="7589520" cy="1188720"/>
          </a:xfrm>
          <a:prstGeom prst="rect">
            <a:avLst/>
          </a:prstGeom>
          <a:solidFill>
            <a:srgbClr val="2A4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50292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5A572"/>
                </a:solidFill>
                <a:latin typeface="AppleSDGothicNeo"/>
              </a:rPr>
              <a:t>계 약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02920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pleSDGothicNeo"/>
              </a:rPr>
              <a:t>2026. 05. 18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2852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5A572"/>
                </a:solidFill>
                <a:latin typeface="AppleSDGothicNeo"/>
              </a:rPr>
              <a:t>계약기간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285232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pleSDGothicNeo"/>
              </a:rPr>
              <a:t>2026. 05. 18  ~  2026. 12. 11  (총 208일)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54126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5A572"/>
                </a:solidFill>
                <a:latin typeface="AppleSDGothicNeo"/>
              </a:rPr>
              <a:t>계약금액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541264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pleSDGothicNeo"/>
              </a:rPr>
              <a:t>78,300,000원 (칠천팔백삼십만원정)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79729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5A572"/>
                </a:solidFill>
                <a:latin typeface="AppleSDGothicNeo"/>
              </a:rPr>
              <a:t>수 행 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797296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pleSDGothicNeo"/>
              </a:rPr>
              <a:t>㈜인사이트마이닝   /   책임연구원  양선희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C5A572"/>
                </a:solidFill>
                <a:latin typeface="AppleSDGothicNeo"/>
              </a:rPr>
              <a:t>2026. 05. 20.   |   ㈜인사이트마이닝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1. 사업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IMSP 5개년 로드맵 중 1차년도 지식그래프 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AppleSDGothicNeo"/>
              </a:rPr>
              <a:t>■  IMSP 5개년 로드맵 (2026~2030)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914400"/>
                <a:gridCol w="6400800"/>
                <a:gridCol w="1737360"/>
              </a:tblGrid>
              <a:tr h="39624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단계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연차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년도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핵심 목표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본 용역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1단계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1차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운영 개념 정의 및 설계 (지식그래프 모델 설계)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● 본 용역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1단계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2027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데이터·모델 의미 체계화 + 구성 요소 개발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/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1단계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3차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통합 연계 → 플랫폼 MVP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2단계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4차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2029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플랫폼 고도화 + 표준 개발 프로세스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/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2단계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5차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안정화 + 민간 연구개발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31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AppleSDGothicNeo"/>
              </a:rPr>
              <a:t>■  본 용역 (1차년도) 범위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43400"/>
            <a:ext cx="269748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343400"/>
            <a:ext cx="2697480" cy="4572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5A572"/>
                </a:solidFill>
                <a:latin typeface="AppleSDGothicNeo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해사 도메인</a:t>
            </a:r>
          </a:p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온톨로지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Stanford 7-Step</a:t>
            </a:r>
          </a:p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147 엔티티 / 108 관계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4343400"/>
            <a:ext cx="269748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343400"/>
            <a:ext cx="2697480" cy="4572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343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5A572"/>
                </a:solidFill>
                <a:latin typeface="AppleSDGothicNeo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920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지식그래프</a:t>
            </a:r>
          </a:p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구축 파이프라인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486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ETL → ELT</a:t>
            </a:r>
          </a:p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Neo4j 5.x 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343400"/>
            <a:ext cx="269748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343400"/>
            <a:ext cx="2697480" cy="4572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343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5A572"/>
                </a:solidFill>
                <a:latin typeface="AppleSDGothicNeo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920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자연어 탐색</a:t>
            </a:r>
          </a:p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아키텍처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486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NL → Cypher</a:t>
            </a:r>
          </a:p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환각 감지 / 품질 게이트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4343400"/>
            <a:ext cx="2697480" cy="1828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4343400"/>
            <a:ext cx="2697480" cy="4572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4343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5A572"/>
                </a:solidFill>
                <a:latin typeface="AppleSDGothicNeo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8920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평가 체계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486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CQ1-CQ5</a:t>
            </a:r>
          </a:p>
          <a:p>
            <a:pPr algn="ctr"/>
            <a:r>
              <a:rPr sz="1000" b="0">
                <a:solidFill>
                  <a:srgbClr val="4A5A6A"/>
                </a:solidFill>
                <a:latin typeface="AppleSDGothicNeo"/>
              </a:rPr>
              <a:t>평가질의 100 / 300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2. 추진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발주처 · 수행기관 · 책임자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097280"/>
            <a:ext cx="3931920" cy="9144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1430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5A572"/>
                </a:solidFill>
                <a:latin typeface="AppleSDGothicNeo"/>
              </a:rPr>
              <a:t>발 주 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SDGothicNeo"/>
              </a:rPr>
              <a:t>한국해양과학기술원 부설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ppleSDGothicNeo"/>
              </a:rPr>
              <a:t>선박해양플랜트연구소 (KRISO)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73152" cy="45720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2514600"/>
            <a:ext cx="3931920" cy="914400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5603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365D"/>
                </a:solidFill>
                <a:latin typeface="AppleSDGothicNeo"/>
              </a:rPr>
              <a:t>수 행 사 (계약상대자)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8036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㈜ 인사이트마이닝</a:t>
            </a:r>
          </a:p>
          <a:p>
            <a:pPr algn="ctr"/>
            <a:r>
              <a:rPr sz="1200" b="1">
                <a:solidFill>
                  <a:srgbClr val="1A365D"/>
                </a:solidFill>
                <a:latin typeface="AppleSDGothicNeo"/>
              </a:rPr>
              <a:t>대표  이부일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429000"/>
            <a:ext cx="73152" cy="45720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26517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2651760" cy="4114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5A572"/>
                </a:solidFill>
                <a:latin typeface="AppleSDGothicNeo"/>
              </a:rPr>
              <a:t>책임연구원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양 선 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연구실장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총괄 · 도메인 모델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931920"/>
            <a:ext cx="26517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3931920"/>
            <a:ext cx="2651760" cy="41148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931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연  구  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720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이 부 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3492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대표이사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아키텍처 · 검수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26517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2651760" cy="41148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931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연  구  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신 동 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492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선임연구원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KG 구축 · 평가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3931920"/>
            <a:ext cx="2651760" cy="2194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3931920"/>
            <a:ext cx="2651760" cy="41148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931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연  구 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5720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이 재 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3492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선임연구원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ppleSDGothicNeo"/>
              </a:rPr>
              <a:t>NLP · ETL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5A572"/>
                </a:solidFill>
                <a:latin typeface="AppleSDGothicNeo"/>
              </a:rPr>
              <a:t>총 4명 · 총 투입 15.4 M/M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3. 전체 일정 마일스톤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총 7개월 · 8개 단계 · 3회 보고회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4114800"/>
                <a:gridCol w="4114800"/>
              </a:tblGrid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단계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기간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주요 마일스톤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핵심 산출물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05.18 ~ 05.31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● 착수보고회 · 요구사항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착수신고서 · 착수보고서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06.01 ~ 06.30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  온톨로지 설계 1차 (Step 1-3)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DES-001 v1 · 핵심용어사전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07.01 ~ 07.31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  온톨로지 설계 2차 (Step 4-5)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DES-001 v2 · DES-003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08.01 ~ 08.31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● 중간보고회 · NL 탐색 설계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DES-004 · 평가질의 100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09.01 ~ 09.30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  멀티모달 통합 (Step 6-7)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DES-002 · S-100 매핑 확장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10.01 ~ 10.31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  분류체계 · KG 구축/검증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DES-005 · 평가질의 300 · KG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11.01 ~ 11.30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  통합 검증 · 보고서 1차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RPT-001 v1 · 평가보고서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12.01 ~ 12.11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● 최종보고회 · 납품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RPT-001 최종 · 용역완료계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400800"/>
            <a:ext cx="182880" cy="182880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642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AppleSDGothicNeo"/>
              </a:rPr>
              <a:t>●  KRISO 보고회  (3회: 착수 · 중간 · 최종)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4. 월별 작업 분할도 (WBS · Gantt)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주요 작업의 월별 분포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55448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작업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5월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6월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7월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8월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9월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10월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11월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1280160"/>
            <a:ext cx="118872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1280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12월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691640"/>
            <a:ext cx="1554480" cy="3291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69164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착수 · 요구사항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24160" y="169164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48840" y="1755648"/>
            <a:ext cx="1097280" cy="201168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2020824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02082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Stanford 7-Step 1-3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24160" y="202082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7560" y="2084832"/>
            <a:ext cx="1097280" cy="20116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350008"/>
            <a:ext cx="1554480" cy="3291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35000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Stanford 7-Step 4-5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9184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4672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424160" y="235000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26280" y="2414016"/>
            <a:ext cx="1097280" cy="20116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2679192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267919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Stanford 7-Step 6-7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312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48056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4672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3544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424160" y="2679192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03720" y="2743200"/>
            <a:ext cx="1097280" cy="201168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" y="3008376"/>
            <a:ext cx="1554480" cy="3291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300837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ETL 파이프라인 설계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0312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9184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8056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4672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3544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424160" y="3008376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26280" y="3072384"/>
            <a:ext cx="2286000" cy="201168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48640" y="3337560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333756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NL → Cypher 설계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0312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9184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48056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66928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5800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04672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3544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424160" y="3337560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715000" y="3401568"/>
            <a:ext cx="1097280" cy="201168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48640" y="3666744"/>
            <a:ext cx="1554480" cy="3291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366674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멀티모달 통합 / S-100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0312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9184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48056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66928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5800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4672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3544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424160" y="3666744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903720" y="3730752"/>
            <a:ext cx="1097280" cy="201168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8640" y="3995928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" y="399592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분류체계 정립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0312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29184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8056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66928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85800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04672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3544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424160" y="3995928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92440" y="4059936"/>
            <a:ext cx="1097280" cy="201168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48640" y="4325112"/>
            <a:ext cx="1554480" cy="3291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080" y="4325112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KG 구축 · 검증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10312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29184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48056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66928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85800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04672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3544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424160" y="4325112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92440" y="4389120"/>
            <a:ext cx="2286000" cy="201168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48640" y="4654296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080" y="4654296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평가질의 100 / 300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29184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48056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66928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85800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04672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23544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424160" y="4654296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715000" y="4718304"/>
            <a:ext cx="3474720" cy="201168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48640" y="4983480"/>
            <a:ext cx="1554480" cy="3291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40080" y="4983480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통합 시험 · 검증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10312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29184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48056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66928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85800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04672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23544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424160" y="4983480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281160" y="5047488"/>
            <a:ext cx="1097280" cy="201168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8640" y="5312664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0080" y="531266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보고서 작성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10312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29184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48056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6928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04672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23544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424160" y="5312664"/>
            <a:ext cx="11887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281160" y="5376672"/>
            <a:ext cx="2286000" cy="201168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48640" y="5641848"/>
            <a:ext cx="1554480" cy="32918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40080" y="564184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02A33"/>
                </a:solidFill>
                <a:latin typeface="AppleSDGothicNeo"/>
              </a:rPr>
              <a:t>납품 · 잔금 청구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10312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29184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48056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66928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5800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04672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23544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424160" y="5641848"/>
            <a:ext cx="1188720" cy="329184"/>
          </a:xfrm>
          <a:prstGeom prst="rect">
            <a:avLst/>
          </a:prstGeom>
          <a:solidFill>
            <a:srgbClr val="F5F7FA"/>
          </a:solidFill>
          <a:ln>
            <a:solidFill>
              <a:srgbClr val="E0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469880" y="5705856"/>
            <a:ext cx="1097280" cy="201168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40080" y="60167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  <a:latin typeface="AppleSDGothicNeo"/>
              </a:rPr>
              <a:t>보고회 ★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423160" y="6016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5A572"/>
                </a:solidFill>
                <a:latin typeface="AppleSDGothicNeo"/>
              </a:rPr>
              <a:t>★ 착수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989320" y="6016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5A572"/>
                </a:solidFill>
                <a:latin typeface="AppleSDGothicNeo"/>
              </a:rPr>
              <a:t>★ 중간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6016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5A572"/>
                </a:solidFill>
                <a:latin typeface="AppleSDGothicNeo"/>
              </a:rPr>
              <a:t>★ 최종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5. 인력 투입 계획 (M/M)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참여 연구원 4명 · 총 15.4 M/M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56032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914400"/>
              </a:tblGrid>
              <a:tr h="45720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연구원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역할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5월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6월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7월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8월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9월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10월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11월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12월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합계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양선희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총괄 · 도메인 모델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이부일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아키텍처 · 검수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2.1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신동욱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KG 구축 · 평가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4.9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이재현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NLP · ETL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4.9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월 합계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15.4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114800"/>
            <a:ext cx="2697480" cy="1463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2697480" cy="4114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총 인력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4 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114800"/>
            <a:ext cx="2697480" cy="1463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4114800"/>
            <a:ext cx="2697480" cy="411480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1148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총 투입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6177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15.4 M/M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2697480" cy="1463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114800"/>
            <a:ext cx="2697480" cy="41148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1148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평균 단가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177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5.08 백만원/M·M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4114800"/>
            <a:ext cx="2697480" cy="1463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4114800"/>
            <a:ext cx="2697480" cy="41148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41148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SDGothicNeo"/>
              </a:rPr>
              <a:t>계약금액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6177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AppleSDGothicNeo"/>
              </a:rPr>
              <a:t>78.3 백만원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AppleSDGothicNeo"/>
              </a:rPr>
              <a:t>※ M/M 산정 기준: 책임연구원 박사급, 연구원 석·박사급 정부 R&amp;D 표준 단가 적용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6. 주요 산출물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설계서 5종 · 보고서 2종 · 평가질의 2종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029200"/>
                <a:gridCol w="2468880"/>
                <a:gridCol w="2286000"/>
              </a:tblGrid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번호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산출물명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제출 단계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분량 / 형식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지식그래프 모델 설계서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M2 → M3 (개정)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PDF · 약 80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멀티모달 데이터 통합 설계서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PDF · 약 60 페이지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ETL 파이프라인 설계서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PDF · 약 80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자연어 탐색 아키텍처 설계서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PDF · 약 60 페이지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DES-005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분류체계 설계서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PDF · 약 40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EVL-100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평가질의 100문항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Excel · CQ 매핑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EVL-300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평가질의 300문항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Excel · CQ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RPT-001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과업 완료 보고서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M7 → M8 (개정)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PDF · 약 200 페이지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RPT-002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평가 결과 보고서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PDF · 약 30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기  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운영자 매뉴얼 · KG 덤프 · 코드 ZIP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M8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ZIP 일체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7. 검수 기준 (제안)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정성 · 정량 평가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AppleSDGothicNeo"/>
              </a:rPr>
              <a:t>■  정성 평가 — CQ (Competency Question) 충족도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5669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2286000"/>
              </a:tblGrid>
              <a:tr h="5029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CQ#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질문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충족 기준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CQ1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선박이 특정 항만에 도킹한 이력은?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엔티티/관계 정의 + 인스턴스 정합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CQ2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S-100 ENC 객체와 KG 매핑은 일관적인가?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S-100 매핑 30+ 정의 + 검증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CQ3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다국적 항해정보 질의가 자연어로 가능?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NL → Cypher 정확도 ≥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CQ4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환각 응답을 감지·차단하는가?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환각 감지기 정확도 ≥ 90%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CQ5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도메인 확장 시 온톨로지 재사용 가능?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프로젝트 격리 + 멀티 KG 입증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AppleSDGothicNeo"/>
              </a:rPr>
              <a:t>■  정량 평가 — 평가질의 정답률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554480"/>
          <a:ext cx="5212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554480"/>
              </a:tblGrid>
              <a:tr h="43107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항목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목표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검증 방법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3107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평가질의 100문항 정답률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≥ 80 %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M4 중간보고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평가질의 300문항 정답률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≥ 80 %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M6 통합 검증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3107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KG 노드 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≥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M6 KG 구축 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KG 관계 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≥ 30,000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M6 KG 구축 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3107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Cypher 응답 시간 (95%)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≤ 3 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M7 부하 테스트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테스트 커버리지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≥ 80 %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M7 자동화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AppleSDGothicNeo"/>
              </a:rPr>
              <a:t>■  보고회 일정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5303520"/>
          <a:ext cx="11064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2286000"/>
                <a:gridCol w="4572000"/>
              </a:tblGrid>
              <a:tr h="29718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구분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예정일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장소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SDGothicNeo"/>
                        </a:rPr>
                        <a:t>주요 내용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착수보고회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2026. 05. 25 ~ 05. 29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KRISO 또는 화상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용역 범위·일정·산출물 협의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중간보고회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2026. 08. 25 ~ 08. 29 중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KRISO 또는 화상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DES-001~004 검토 · 평가질의 100 · 50% 기성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최종보고회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2026. 12. 04 ~ 12. 05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KRISO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A33"/>
                          </a:solidFill>
                          <a:latin typeface="AppleSDGothicNeo"/>
                        </a:rPr>
                        <a:t>RPT-001 최종 · 시연 · 잔금 청구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8. 오늘 협의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KRISO 감독관 확정이 필요한 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731520" cy="10972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344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착수보고회 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5월 25~29일 중 가능 일자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731520" cy="10972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09728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23444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중간보고회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4592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8월 25~29일 (50% 기성)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3172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331720"/>
            <a:ext cx="731520" cy="10972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3172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46888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최종보고회 마감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8036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12월 4~5일 (납기 7일 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33172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331720"/>
            <a:ext cx="731520" cy="1097280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3172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46888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정기 진척 회의 주기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88036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월 1회 / 격주 중 선택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566160"/>
            <a:ext cx="731520" cy="1097280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56616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7033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납품물 형식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1148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PDF + 원본(MD/DOCX) + 코드 ZIP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56616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566160"/>
            <a:ext cx="731520" cy="1097280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56616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7033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검수 기준 합의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1148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CQ1-CQ5 PASS · 평가질의 ≥ 80%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0060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800600"/>
            <a:ext cx="731520" cy="109728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0060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9377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선금 지급 여부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34924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50% 선금 신청 가능 여부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800600"/>
            <a:ext cx="5440680" cy="1097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800600"/>
            <a:ext cx="731520" cy="1097280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800600"/>
            <a:ext cx="7315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pleSDGothicNeo"/>
              </a:rPr>
              <a:t>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9377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AppleSDGothicNeo"/>
              </a:rPr>
              <a:t>감독관 지정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34924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AppleSDGothicNeo"/>
              </a:rPr>
              <a:t>용역 감독관 성함·이메일 확인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C5A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SDGothicNeo"/>
              </a:rPr>
              <a:t>9. 행정 액션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BD5E0"/>
                </a:solidFill>
                <a:latin typeface="AppleSDGothicNeo"/>
              </a:rPr>
              <a:t>착수 후 10일 내 처리 항목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972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943600"/>
                <a:gridCol w="1280160"/>
                <a:gridCol w="1828800"/>
                <a:gridCol w="1554480"/>
              </a:tblGrid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#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액션 항목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마감일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담당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SDGothicNeo"/>
                        </a:rPr>
                        <a:t>상태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착수신고서 PDF 1개 파일 취합 (P.7~13 양식)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05. 21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행정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용역 감독관 확인·서명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05. 23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양선희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예정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계약담당자 최종 전달 (flash@kriso.re.kr)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행정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예정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계약이행보증보험증권 발행 · 송부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05. 25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행정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예정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나라장터 첨부서류 송신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행정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예정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보안각서 제출 (P.6 양식)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05. 25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양선희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예정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개인정보 동의서 · 청렴계약이행각서 제출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05. 25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양선희·이부일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예정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선금 지급 신청서 작성 (선택)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06. 05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이부일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검토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선금전용계좌 개설 (선금 신청 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06. 05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행정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A33"/>
                          </a:solidFill>
                          <a:latin typeface="AppleSDGothicNeo"/>
                        </a:rPr>
                        <a:t>검토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5A572"/>
                </a:solidFill>
                <a:latin typeface="AppleSDGothicNeo"/>
              </a:rPr>
              <a:t>감 사 합 니 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AppleSDGothicNeo"/>
              </a:rPr>
              <a:t>㈜인사이트마이닝 · 대화형 해사서비스 플랫폼 지식그래프 모델 설계 연구 용역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AppleSDGothicNe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